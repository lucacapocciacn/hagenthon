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0:00-0:15 — Titolo. Una frase: questo strumento non spiega il documento, lo porta a termine. Tre passi, nessuna registrazione.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0:15-0:45 — Il problema non è la persona, è il linguaggio. Leggere ad alta voce l'etichetta reale: nessuno in sala sa cosa chiede. È un campo vero di un modulo comunale. Il risultato è sempre lo stesso: o chiede aiuto, o rinuncia.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0:45-1:15 — Tre passi. L'interfaccia è un pulsante: niente account, niente setup. Poi una domanda per schermata, testo grande, un solo campo. Alla fine il documento pronto.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1:15-1:50 — Questa è la slide che conta. A sinistra il campo com'è scritto nel modulo, a destra quello che legge la persona. Il testo originale non sparisce mai: resta sotto, sempre visibile. Non stiamo riscrivendo il documento, stiamo facendo da ponte.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1:50-2:15 — Il valore non è nella chat, è qui. L'utente non riceve un riassunto né una guida: riceve il modulo compilato. Prima bianco, dopo completo. È l'unica metrica che conta e non ha bisogno di interpretazione.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2:15-2:40 — Stack volutamente ordinario e noioso: Angular davanti, Spring Boot dietro, PDFBox per il PDF. L'unico pezzo interessante è il motore linguistico, ed è locale. Il flusso è lineare: nessuna coda, nessun database, nessuno stato da gestire oltre la sessione.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2:40-3:00 — Chiusura sul punto che vende davvero: privacy per costruzione. I dati anagrafici non lasciano il computer perché il modello è locale, non perché qualcuno lo promette in un contratto. Nessun account, nessun abbonamento, e se il modello cade la persona arriva in fondo comunque. Chiudere 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141416"/>
                </a:solidFill>
                <a:latin typeface="Helvetica Neue"/>
              </a:rPr>
              <a:t>Un campo alla volta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9184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5A5F66"/>
                </a:solidFill>
                <a:latin typeface="Helvetica Neue"/>
              </a:rPr>
              <a:t>Chi non capisce il linguaggio burocratico compila il modulo da solo, fino in fondo.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17720"/>
            <a:ext cx="1463040" cy="3810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98348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4A8F"/>
                </a:solidFill>
                <a:latin typeface="Helvetica Neue"/>
              </a:rPr>
              <a:t>Carica il PDF  ·  Rispondi a una domanda alla volta  ·  Scarica il modulo compilato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A8F"/>
                </a:solidFill>
                <a:latin typeface="Helvetica Neue"/>
              </a:rPr>
              <a:t>IL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41416"/>
                </a:solidFill>
                <a:latin typeface="Helvetica Neue"/>
              </a:rPr>
              <a:t>Il modulo non è difficile. È scritto in una lingua che non è la tua.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10332720" cy="137160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651760"/>
            <a:ext cx="9509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B45309"/>
                </a:solidFill>
                <a:latin typeface="Helvetica Neue"/>
              </a:rPr>
              <a:t>«Estremi del titolo di occupazione dell'alloggio ai sensi dell'art. 5 D.L. 47/2014»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24612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F66"/>
                </a:solidFill>
                <a:latin typeface="Helvetica Neue"/>
              </a:rPr>
              <a:t>Campo reale di una dichiarazione di residenza comunale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160520"/>
            <a:ext cx="3108960" cy="2540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416"/>
                </a:solidFill>
                <a:latin typeface="Helvetica Neue"/>
              </a:rPr>
              <a:t>Si ferma prima di iniziare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F66"/>
                </a:solidFill>
                <a:latin typeface="Helvetica Neue"/>
              </a:rPr>
              <a:t>Non sa quale informazione le stia chiedendo, non come scriverla.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4160520"/>
            <a:ext cx="3108960" cy="2540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438912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416"/>
                </a:solidFill>
                <a:latin typeface="Helvetica Neue"/>
              </a:rPr>
              <a:t>Chiede aiuto a qualcuno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89204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F66"/>
                </a:solidFill>
                <a:latin typeface="Helvetica Neue"/>
              </a:rPr>
              <a:t>Un figlio, un patronato, un CAF. Ogni volta perde autonomia.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4160520"/>
            <a:ext cx="3108960" cy="2540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438912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416"/>
                </a:solidFill>
                <a:latin typeface="Helvetica Neue"/>
              </a:rPr>
              <a:t>Il modulo resta bianco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89204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5F66"/>
                </a:solidFill>
                <a:latin typeface="Helvetica Neue"/>
              </a:rPr>
              <a:t>E con lui la pratica: la residenza, il contributo, il diritto.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A8F"/>
                </a:solidFill>
                <a:latin typeface="Helvetica Neue"/>
              </a:rPr>
              <a:t>LA SOLUZIONE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41416"/>
                </a:solidFill>
                <a:latin typeface="Helvetica Neue"/>
              </a:rPr>
              <a:t>Una domanda alla volta,
in italiano semplice.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14600"/>
            <a:ext cx="566928" cy="566928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24328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53288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1416"/>
                </a:solidFill>
                <a:latin typeface="Helvetica Neue"/>
              </a:rPr>
              <a:t>Carica il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9718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F66"/>
                </a:solidFill>
                <a:latin typeface="Helvetica Neue"/>
              </a:rPr>
              <a:t>Un solo pulsante. Nessuna registrazione, nessuna configurazione.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749039"/>
            <a:ext cx="566928" cy="566928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58767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767327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1416"/>
                </a:solidFill>
                <a:latin typeface="Helvetica Neue"/>
              </a:rPr>
              <a:t>Rispondi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206239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F66"/>
                </a:solidFill>
                <a:latin typeface="Helvetica Neue"/>
              </a:rPr>
              <a:t>Una domanda per schermata, in linguaggio comune.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983480"/>
            <a:ext cx="566928" cy="566928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93208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500176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1416"/>
                </a:solidFill>
                <a:latin typeface="Helvetica Neue"/>
              </a:rPr>
              <a:t>Scarica il modulo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544068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F66"/>
                </a:solidFill>
                <a:latin typeface="Helvetica Neue"/>
              </a:rPr>
              <a:t>Il PDF compilato, pronto da stampare o inviare.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14235" y="2736747"/>
            <a:ext cx="4225290" cy="1658826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upload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746272"/>
            <a:ext cx="4206240" cy="16397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A8F"/>
                </a:solidFill>
                <a:latin typeface="Helvetica Neue"/>
              </a:rPr>
              <a:t>IL CUORE DEL PRODOTTO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24128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41416"/>
                </a:solidFill>
                <a:latin typeface="Helvetica Neue"/>
              </a:rPr>
              <a:t>Semplificare senza tradire il significato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48463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4884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A5F66"/>
                </a:solidFill>
                <a:latin typeface="Helvetica Neue"/>
              </a:rPr>
              <a:t>TESTO DEL MODULO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51460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41416"/>
                </a:solidFill>
                <a:latin typeface="Helvetica Neue"/>
              </a:rPr>
              <a:t>Indirizzo di nuova dimora abituale — Via/Piazza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89320" y="2514600"/>
            <a:ext cx="502920" cy="365760"/>
          </a:xfrm>
          <a:prstGeom prst="rightArrow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20840" y="1920240"/>
            <a:ext cx="4526280" cy="1600200"/>
          </a:xfrm>
          <a:prstGeom prst="roundRect">
            <a:avLst>
              <a:gd name="adj" fmla="val 6000"/>
            </a:avLst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214884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CC4"/>
                </a:solidFill>
                <a:latin typeface="Helvetica Neue"/>
              </a:rPr>
              <a:t>LA DOMANDA CHE LEGGE LA PERSONA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51460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</a:rPr>
              <a:t>Qual è l'indirizzo della tua nuova casa?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141416"/>
                </a:solidFill>
                <a:latin typeface="Helvetica Neue"/>
              </a:rPr>
              <a:t>Il testo originale resta sempre a schermo.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F66"/>
                </a:solidFill>
                <a:latin typeface="Helvetica Neue"/>
              </a:rPr>
              <a:t>La domanda semplice non sostituisce il modulo: lo affianca. Su un documento con valore legale, una semplificazione che altera il senso produce una dichiarazione sbagliata — e la responsabilità resta di chi firma.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97385" y="3739514"/>
            <a:ext cx="3761710" cy="25336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3-domanda-indirizz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910" y="3749039"/>
            <a:ext cx="374266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A8F"/>
                </a:solidFill>
                <a:latin typeface="Helvetica Neue"/>
              </a:rPr>
              <a:t>IL RISULTATO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78992"/>
            <a:ext cx="5669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41416"/>
                </a:solidFill>
                <a:latin typeface="Helvetica Neue"/>
              </a:rPr>
              <a:t>Non una spiegazione.
Il documento finito.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4937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 i="0">
                <a:solidFill>
                  <a:srgbClr val="5A5F66"/>
                </a:solidFill>
                <a:latin typeface="Helvetica Neue"/>
              </a:rPr>
              <a:t>Le risposte finiscono nei campi giusti del PDF originale, che viene restituito compilato e pronto.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7F4B"/>
                </a:solidFill>
                <a:latin typeface="Helvetica Neue"/>
              </a:rPr>
              <a:t>Prima: il modulo resta bianco.
Dopo: il modulo è compilato.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7492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A5F66"/>
                </a:solidFill>
                <a:latin typeface="Helvetica Neue"/>
              </a:rPr>
              <a:t>Il guadagno è misurabile senza interpretazioni: o la pratica è completa, o non lo è.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08395" y="1919341"/>
            <a:ext cx="5139690" cy="3110757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df-compilato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28866"/>
            <a:ext cx="5120640" cy="30917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A8F"/>
                </a:solidFill>
                <a:latin typeface="Helvetica Neue"/>
              </a:rPr>
              <a:t>COME È FATTO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24128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41416"/>
                </a:solidFill>
                <a:latin typeface="Helvetica Neue"/>
              </a:rPr>
              <a:t>Tre pezzi, nessuna dipendenza esterna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65960"/>
            <a:ext cx="31089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965960"/>
            <a:ext cx="3108960" cy="5080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4A8F"/>
                </a:solidFill>
                <a:latin typeface="Helvetica Neue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0604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416"/>
                </a:solidFill>
                <a:latin typeface="Helvetica Neue"/>
              </a:rPr>
              <a:t>Angular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00400"/>
            <a:ext cx="2560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F66"/>
                </a:solidFill>
                <a:latin typeface="Helvetica Neue"/>
              </a:rPr>
              <a:t>Due schermate: carica e rispondi.
Testo grande, un campo per volta, navigabile da tastiera.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65960"/>
            <a:ext cx="31089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965960"/>
            <a:ext cx="3108960" cy="5080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2860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4A8F"/>
                </a:solidFill>
                <a:latin typeface="Helvetica Neue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60604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416"/>
                </a:solidFill>
                <a:latin typeface="Helvetica Neue"/>
              </a:rPr>
              <a:t>Spring Boot · Java 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200400"/>
            <a:ext cx="2560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F66"/>
                </a:solidFill>
                <a:latin typeface="Helvetica Neue"/>
              </a:rPr>
              <a:t>Legge i campi del PDF, orchestra le domande, riscrive il modulo compilato con Apache PDFBox.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965960"/>
            <a:ext cx="31089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965960"/>
            <a:ext cx="3108960" cy="5080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9" y="22860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7F4B"/>
                </a:solidFill>
                <a:latin typeface="Helvetica Neue"/>
              </a:rPr>
              <a:t>MOTORE LINGUISTICO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260604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416"/>
                </a:solidFill>
                <a:latin typeface="Helvetica Neue"/>
              </a:rPr>
              <a:t>Ollama · qwen2.5 in locale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3200400"/>
            <a:ext cx="2560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5F66"/>
                </a:solidFill>
                <a:latin typeface="Helvetica Neue"/>
              </a:rPr>
              <a:t>Trasforma l'etichetta burocratica in una domanda semplice. Gira sulla macchina, non nel cloud.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709160"/>
            <a:ext cx="10332720" cy="1234440"/>
          </a:xfrm>
          <a:prstGeom prst="roundRect">
            <a:avLst>
              <a:gd name="adj" fmla="val 6000"/>
            </a:avLst>
          </a:prstGeom>
          <a:solidFill>
            <a:srgbClr val="EC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93776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4A8F"/>
                </a:solidFill>
                <a:latin typeface="Helvetica Neue"/>
              </a:rPr>
              <a:t>L'INTEGRAZIONE, IN UNA RIGA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285232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1416"/>
                </a:solidFill>
                <a:latin typeface="Helvetica Neue"/>
              </a:rPr>
              <a:t>PDF caricato  →  campi estratti  →  ogni etichetta diventa una domanda  →  risposte riscritte nel PDF  →  download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A8F"/>
                </a:solidFill>
                <a:latin typeface="Helvetica Neue"/>
              </a:rPr>
              <a:t>PERCHÉ CONTA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41416"/>
                </a:solidFill>
                <a:latin typeface="Helvetica Neue"/>
              </a:rPr>
              <a:t>I dati non escono mai dalla macchina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258568"/>
            <a:ext cx="146304" cy="146304"/>
          </a:xfrm>
          <a:prstGeom prst="ellipse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14884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416"/>
                </a:solidFill>
                <a:latin typeface="Helvetica Neue"/>
              </a:rPr>
              <a:t>Nessun account, per nessuno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5146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F66"/>
                </a:solidFill>
                <a:latin typeface="Helvetica Neue"/>
              </a:rPr>
              <a:t>Né per chi usa lo strumento, né per chi lo installa. Nessun abbonamento AI.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218688"/>
            <a:ext cx="146304" cy="146304"/>
          </a:xfrm>
          <a:prstGeom prst="ellipse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310896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416"/>
                </a:solidFill>
                <a:latin typeface="Helvetica Neue"/>
              </a:rPr>
              <a:t>Il modello gira in locale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747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F66"/>
                </a:solidFill>
                <a:latin typeface="Helvetica Neue"/>
              </a:rPr>
              <a:t>Nome, indirizzo, codice fiscale non lasciano il computer. Non è una promessa contrattuale: è architettura.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178808"/>
            <a:ext cx="146304" cy="146304"/>
          </a:xfrm>
          <a:prstGeom prst="ellipse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06908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416"/>
                </a:solidFill>
                <a:latin typeface="Helvetica Neue"/>
              </a:rPr>
              <a:t>Funziona su qualsiasi modulo compilabile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4348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F66"/>
                </a:solidFill>
                <a:latin typeface="Helvetica Neue"/>
              </a:rPr>
              <a:t>Non è legato a un modulo specifico: legge i campi di qualunque PDF con moduli.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5138928"/>
            <a:ext cx="146304" cy="146304"/>
          </a:xfrm>
          <a:prstGeom prst="ellipse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5029200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416"/>
                </a:solidFill>
                <a:latin typeface="Helvetica Neue"/>
              </a:rPr>
              <a:t>Se il modello non risponde, si continua lo stesso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39496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A5F66"/>
                </a:solidFill>
                <a:latin typeface="Helvetica Neue"/>
              </a:rPr>
              <a:t>Lo strumento mostra l'etichetta originale e la persona arriva comunque in fondo.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897880"/>
            <a:ext cx="10332720" cy="25400"/>
          </a:xfrm>
          <a:prstGeom prst="rect">
            <a:avLst/>
          </a:prstGeom>
          <a:solidFill>
            <a:srgbClr val="004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4A8F"/>
                </a:solidFill>
                <a:latin typeface="Helvetica Neue"/>
              </a:rPr>
              <a:t>Un campo alla volta — dal modulo bianco alla pratica conclusa.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