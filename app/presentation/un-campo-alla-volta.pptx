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0:00-0:15 — Titolo. Il difetto non è di chi legge: è del modulo, che chiede cose semplici in modo complicato. Lo strumento non spiega il documento, lo porta a termine. Tre passi, nessuna registrazione.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0:15-0:45 — Leggere ad alta voce l'etichetta e fermarsi un secondo: nessuno in sala sa cosa chiede, ed è un campo vero di un modulo comunale. Il punto è questo: l'informazione richiesta è banale — che titolo hai sulla casa — ma il modo di chiederla non lo è. L'esito è sempre lo stesso: o serve qualcun altro, o si rinuncia.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0:45-1:15 — Tre passi. L'interfaccia è un pulsante: niente account, niente setup. Poi una domanda per schermata, testo grande, un solo campo. Alla fine il documento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1:15-1:50 — La slide che conta. A sinistra il campo com'è scritto nel modulo, a destra quello che legge la persona. Il testo originale non sparisce mai: resta sotto, sempre visibile. Non riscriviamo il documento, facciamo da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1:50-2:15 — Il valore non è nella chat, è qui. L'utente non riceve un riassunto né una guida: riceve il modulo compilato. Prima bianco, dopo completo. È l'unica metrica che conta e non ha bisogno di interpretazione.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2:15-2:40 — Stack volutamente ordinario: Angular davanti, Spring Boot dietro, PDFBox per il PDF. L'unico pezzo interessante è il motore linguistico, ed è locale. Flusso lineare: nessuna coda, nessun database, nessuno stato oltre la sessione.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2:40-3:00 — Chiusura sul punto che vende: privacy per costruzione. I dati anagrafici non lasciano il computer perché il modello è locale, non perché qualcuno lo promette in un contratto. Nessun account, nessun abbonamento, e se il modello cade la persona arriva in fondo comunque.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centure-greater-t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650363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4688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FFFFFF"/>
                </a:solidFill>
                <a:latin typeface="Graphik"/>
              </a:rPr>
              <a:t>Un campo alla volta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8595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700" b="0" i="0">
                <a:solidFill>
                  <a:srgbClr val="E6E6DC"/>
                </a:solidFill>
                <a:latin typeface="Graphik"/>
              </a:rPr>
              <a:t>La burocrazia parla difficile.
Tu rispondi normale.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120640"/>
            <a:ext cx="1371600" cy="381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BE82FF"/>
                </a:solidFill>
                <a:latin typeface="Graphik"/>
              </a:rPr>
              <a:t>Carica il PDF   ·   Rispondi a una domanda alla volta   ·   Scarica il modulo compilato</a:t>
            </a:r>
          </a:p>
        </p:txBody>
      </p:sp>
      <p:pic>
        <p:nvPicPr>
          <p:cNvPr id="8" name="Picture 7" descr="accenture-technology-chia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10469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Il modulo non chiede cose difficili.
Le chiede in modo difficile.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514600"/>
            <a:ext cx="10469880" cy="132588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514600"/>
            <a:ext cx="50800" cy="13258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2761488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0" i="1">
                <a:solidFill>
                  <a:srgbClr val="000000"/>
                </a:solidFill>
                <a:latin typeface="Graphik"/>
              </a:rPr>
              <a:t>«Estremi del titolo di occupazione dell'alloggio ai sensi dell'art. 5 D.L. 47/2014»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3364992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5554E"/>
                </a:solidFill>
                <a:latin typeface="Graphik"/>
              </a:rPr>
              <a:t>Campo reale di una dichiarazione di residenza comunale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Non dice cosa sta chiedendo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L'etichetta cita una norma. L'informazione che serve davvero non compare.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457200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Serve sempre qualcun altro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Un figlio, un patronato, un CAF. Per una cosa che riguarda solo 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4343400"/>
            <a:ext cx="310896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457200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50" b="1" i="0">
                <a:solidFill>
                  <a:srgbClr val="000000"/>
                </a:solidFill>
                <a:latin typeface="Graphik"/>
              </a:rPr>
              <a:t>Il modulo resta bianco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5864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5554E"/>
                </a:solidFill>
                <a:latin typeface="Graphik"/>
              </a:rPr>
              <a:t>Con lui la pratica: la residenza, il contributo, il diritto.</a:t>
            </a:r>
          </a:p>
        </p:txBody>
      </p:sp>
      <p:pic>
        <p:nvPicPr>
          <p:cNvPr id="18" name="Picture 17" descr="accenture-technology-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LA SOLUZIONE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217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Te lo chiediamo noi,
una domanda alla volta.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60604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71119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Carica il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2666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Un solo pulsante. Nessuna registrazione, nessuna configurazione.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79476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9991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94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Rispondi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1538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Una domanda per schermata, in linguaggio comune.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983480"/>
            <a:ext cx="530352" cy="53035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88636"/>
            <a:ext cx="530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raphi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Graphik"/>
              </a:rPr>
              <a:t>Scarica il modulo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40410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Il PDF compilato, pronto da stampare o inviare.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075" y="2764643"/>
            <a:ext cx="4316730" cy="1694473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pload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774168"/>
            <a:ext cx="4297680" cy="1675423"/>
          </a:xfrm>
          <a:prstGeom prst="rect">
            <a:avLst/>
          </a:prstGeom>
        </p:spPr>
      </p:pic>
      <p:pic>
        <p:nvPicPr>
          <p:cNvPr id="19" name="Picture 18" descr="accenture-technology-sc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CUORE DEL PRODOTTO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Semplificare senza tradire il significato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920240"/>
            <a:ext cx="4754880" cy="155448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2148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55554E"/>
                </a:solidFill>
                <a:latin typeface="Graphik"/>
              </a:rPr>
              <a:t>TESTO DEL MODULO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51460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50" b="0" i="0">
                <a:solidFill>
                  <a:srgbClr val="000000"/>
                </a:solidFill>
                <a:latin typeface="Graphik"/>
              </a:rPr>
              <a:t>Indirizzo di nuova dimora abituale — Via/Piazza</a:t>
            </a:r>
          </a:p>
        </p:txBody>
      </p:sp>
      <p:pic>
        <p:nvPicPr>
          <p:cNvPr id="8" name="Picture 7" descr="accenture-greater-t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42032"/>
            <a:ext cx="283491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75120" y="1920240"/>
            <a:ext cx="466344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2592" y="214884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CAFFF"/>
                </a:solidFill>
                <a:latin typeface="Graphik"/>
              </a:rPr>
              <a:t>LA DOMANDA CHE LEGGE LA PERSONA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2592" y="251460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50" b="1" i="0">
                <a:solidFill>
                  <a:srgbClr val="FFFFFF"/>
                </a:solidFill>
                <a:latin typeface="Graphik"/>
              </a:rPr>
              <a:t>Qual è l'indirizzo della tua nuova casa?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50" b="1" i="0">
                <a:solidFill>
                  <a:srgbClr val="000000"/>
                </a:solidFill>
                <a:latin typeface="Graphik"/>
              </a:rPr>
              <a:t>Il testo originale resta sempre a schermo.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5554E"/>
                </a:solidFill>
                <a:latin typeface="Graphik"/>
              </a:rPr>
              <a:t>La domanda semplice non sostituisce il modulo: lo affianca. Su un documento con valore legale, una semplificazione che altera il senso produce una dichiarazione sbagliata — e la responsabilità resta di chi firma.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68037" y="3739514"/>
            <a:ext cx="3557565" cy="239649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domanda-indirizz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562" y="3749039"/>
            <a:ext cx="3538515" cy="2377440"/>
          </a:xfrm>
          <a:prstGeom prst="rect">
            <a:avLst/>
          </a:prstGeom>
        </p:spPr>
      </p:pic>
      <p:pic>
        <p:nvPicPr>
          <p:cNvPr id="15" name="Picture 14" descr="accenture-technology-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4980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IL RISULTATO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Non una spiegazione.
Il documento finito.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0" i="0">
                <a:solidFill>
                  <a:srgbClr val="55554E"/>
                </a:solidFill>
                <a:latin typeface="Graphik"/>
              </a:rPr>
              <a:t>Le risposte finiscono nei campi giusti del PDF originale, che viene restituito compilato e pronto.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4846320" cy="105156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3794760"/>
            <a:ext cx="50800" cy="10515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4041648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1" i="0">
                <a:solidFill>
                  <a:srgbClr val="000000"/>
                </a:solidFill>
                <a:latin typeface="Graphik"/>
              </a:rPr>
              <a:t>Prima: il modulo resta bianco.
Dopo: il modulo è compilato.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2064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55554E"/>
                </a:solidFill>
                <a:latin typeface="Graphik"/>
              </a:rPr>
              <a:t>Il guadagno è misurabile senza interpretazioni: o la pratica è completa, o non lo 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8395" y="1873621"/>
            <a:ext cx="5139690" cy="3110757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df-compila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83146"/>
            <a:ext cx="5120640" cy="3091707"/>
          </a:xfrm>
          <a:prstGeom prst="rect">
            <a:avLst/>
          </a:prstGeom>
        </p:spPr>
      </p:pic>
      <p:pic>
        <p:nvPicPr>
          <p:cNvPr id="12" name="Picture 11" descr="accenture-technology-sc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A100FF"/>
                </a:solidFill>
                <a:latin typeface="Graphik"/>
              </a:rPr>
              <a:t>COME È FATTO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469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000000"/>
                </a:solidFill>
                <a:latin typeface="Graphik"/>
              </a:rPr>
              <a:t>Tre pezzi, nessun servizio esterno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3108960" cy="50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A100FF"/>
                </a:solidFill>
                <a:latin typeface="Graphik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Angular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Due schermate: carica e rispondi. Testo grande, un campo per volta, navigabile da tastiera.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1965960"/>
            <a:ext cx="3108960" cy="50800"/>
          </a:xfrm>
          <a:prstGeom prst="rect">
            <a:avLst/>
          </a:prstGeom>
          <a:solidFill>
            <a:srgbClr val="750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500C0"/>
                </a:solidFill>
                <a:latin typeface="Graphik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Spring Boot · Java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Legge i campi del PDF, orchestra le domande, riscrive il modulo compilato con Apache PDFBox.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1965960"/>
            <a:ext cx="31089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4" y="1965960"/>
            <a:ext cx="3108960" cy="508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2860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460073"/>
                </a:solidFill>
                <a:latin typeface="Graphik"/>
              </a:rPr>
              <a:t>MOTORE LINGUISTICO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0604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Graphik"/>
              </a:rPr>
              <a:t>Ollama · qwen2.5 locale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20040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5554E"/>
                </a:solidFill>
                <a:latin typeface="Graphik"/>
              </a:rPr>
              <a:t>Trasforma l'etichetta burocratica in una domanda semplice. Gira sulla macchina, non nel cloud.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709160"/>
            <a:ext cx="104698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709160"/>
            <a:ext cx="50800" cy="1188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" y="493776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A100FF"/>
                </a:solidFill>
                <a:latin typeface="Graphik"/>
              </a:rPr>
              <a:t>L'INTEGRAZIONE, IN UNA RIGA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5266944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000000"/>
                </a:solidFill>
                <a:latin typeface="Graphik"/>
              </a:rPr>
              <a:t>PDF caricato   &gt;   campi estratti   &gt;   ogni etichetta diventa una domanda   &gt;   risposte riscritte nel PDF   &gt;   download</a:t>
            </a:r>
          </a:p>
        </p:txBody>
      </p:sp>
      <p:pic>
        <p:nvPicPr>
          <p:cNvPr id="24" name="Picture 23" descr="accenture-technology-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BE82FF"/>
                </a:solidFill>
                <a:latin typeface="Graphik"/>
              </a:rPr>
              <a:t>PERCHÉ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69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Graphik"/>
              </a:rPr>
              <a:t>I dati non escono mai dalla macchina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3317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2728" y="22402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Nessun account, per nessuno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5877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Né per chi usa lo strumento, né per chi lo installa. Nessun abbonamento AI.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461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31546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Il modello gira in locale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35021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Nome, indirizzo, codice fiscale non lasciano il computer. Non è una promessa contrattuale: è architettura.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1605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0690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Funziona su qualsiasi modulo compilabile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4165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Non è legato a un modulo specifico: legge i campi di qualunque PDF con moduli.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114300" cy="1143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98348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raphik"/>
              </a:rPr>
              <a:t>Se il modello non risponde, si continua lo stesso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533095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6E6DC"/>
                </a:solidFill>
                <a:latin typeface="Graphik"/>
              </a:rPr>
              <a:t>Lo strumento mostra l'etichetta originale e la persona arriva comunque in fondo.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943600"/>
            <a:ext cx="10469880" cy="254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53912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BE82FF"/>
                </a:solidFill>
                <a:latin typeface="Graphik"/>
              </a:rPr>
              <a:t>Dal modulo bianco alla pratica conclusa.</a:t>
            </a:r>
          </a:p>
        </p:txBody>
      </p:sp>
      <p:pic>
        <p:nvPicPr>
          <p:cNvPr id="19" name="Picture 18" descr="accenture-technology-chi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254782"/>
            <a:ext cx="1600200" cy="1460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ccenture 2020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custClrLst>
    <a:custClr name="Accent Purple 1">
      <a:srgbClr val="B455AA"/>
    </a:custClr>
    <a:custClr name="Accent Purple 2">
      <a:srgbClr val="A055F5"/>
    </a:custClr>
    <a:custClr name="Accent Purple 3">
      <a:srgbClr val="BE82FF"/>
    </a:custClr>
    <a:custClr name="Accent Purple 4">
      <a:srgbClr val="DCAFFF"/>
    </a:custClr>
    <a:custClr name="Accent Purple 5">
      <a:srgbClr val="E6DC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ue">
      <a:srgbClr val="0041F0"/>
    </a:custClr>
    <a:custClr name="Light Blue">
      <a:srgbClr val="00FFFF"/>
    </a:custClr>
    <a:custClr name="Green">
      <a:srgbClr val="64FF50"/>
    </a:custClr>
    <a:custClr name="Blue Green">
      <a:srgbClr val="05F0A5"/>
    </a:custClr>
    <a:custClr name="Red">
      <a:srgbClr val="FF3246"/>
    </a:custClr>
    <a:custClr name="Pink">
      <a:srgbClr val="FF50A0"/>
    </a:custClr>
    <a:custClr name="Orange">
      <a:srgbClr val="FF7800"/>
    </a:custClr>
    <a:custClr name="Yellow">
      <a:srgbClr val="FFEB32"/>
    </a:custClr>
    <a:custClr name="BLANK">
      <a:srgbClr val="FFFFFF"/>
    </a:custClr>
    <a:custClr name="BLANK">
      <a:srgbClr val="FFFFFF"/>
    </a:custClr>
  </a:custClrLst>
  <a:extLst>
    <a:ext uri="{05A4C25C-085E-4340-85A3-A5531E510DB2}">
      <thm15:themeFamily xmlns:thm15="http://schemas.microsoft.com/office/thememl/2012/main" name="IMP_Acc_PPT_Tmplt_Graphik_210225_Fixed_Accessible.potx" id="{80BF15C9-A5DA-472C-9F1E-82F4EBB43D59}" vid="{02DD174B-CE7A-418B-90DA-AC9D16AAE5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